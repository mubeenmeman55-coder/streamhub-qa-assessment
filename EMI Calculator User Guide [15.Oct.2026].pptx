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fe7adf-e9df-c8a8-923f-ca8cbdd63435}">
          <p14:sldIdLst>
            <p14:sldId id="256"/>
          </p14:sldIdLst>
        </p14:section>
        <p14:section name="The app" id="{4c48d25a-4b38-b16f-78fe-6aefd0a6c30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esting and quality" id="{a014e3bb-d1b4-f469-6ac4-83db9d4f968a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This guide walks through the EMI Calculator app screen by screen, then shows the automated tests, API checks, SQL queries and self-healing proof of concept that support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 map. Blue numbers are app screens; teal numbers are the testing, API, SQL and self-healing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loan: 25 lakh at 10% for 10 years gives an EMI of 33,038. Everything on this screen recalculates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loan type has its own starting values and slider range. Paying at the start of the month divides the EMI by one plus the monthly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5,000 extra every month plus 5 lakh after payment 36 ends the loan 3 years 8 months early and saves about 5.85 lakh in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Comfortable is up to 30% of income, stretching up to 50%, risky above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years pay mostly interest; the lines cross as principal repayment accelerates.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totals row always equals the loan amount in the principal column and the total interest in the interest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loan starting in January belongs to the previous financial year for its first three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cheaper figure in each row is highlighted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40,000 a month at 9% for 20 years supports a loan of about 44.46 lakh.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 to eight scenarios are kept. Saving needs a name and a valid loan.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 follows the operating system setting until you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from the project. Red lines are intentional: test:gap documents JSONPlaceholder returning 201 for invalid input, and test:broken shows the five deliberately broken locators.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RESULTS.md in the repository summarises all suites, and the independent expected values come from utils/emi.js, which shares no code with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Payloads cover very long titles, special characters and missing required fields such as userId.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and sample data are in sql/01_schema.sql and sql/02_sample_data.sql.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technique is called gaps and islands.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language-model path is implemented but was not run without an API key; npm run heal -- --prompt prints the exact prompt it would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Everything needed to reproduce the results is in the repository; RESULTS.md and docs/REQUIREMENTS_CHECKLIST.md are the quickest places to verify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_WAL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EMI Calculator  |  User Guide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EMI Calculator  |  User Guide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USER GUIDE  |  FULLSTACK + QA AUTOMATION ASSESSMENT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315200" y="10972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6"/>
                </a:solidFill>
              </a:rPr>
              <a:t>EMI</a:t>
            </a:r>
            <a:endParaRPr lang="en-US" sz="13000" dirty="0"/>
          </a:p>
        </p:txBody>
      </p:sp>
      <p:sp>
        <p:nvSpPr>
          <p:cNvPr id="4" name="Dot"/>
          <p:cNvSpPr/>
          <p:nvPr/>
        </p:nvSpPr>
        <p:spPr>
          <a:xfrm>
            <a:off x="9692640" y="3429000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0" y="3931920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1155680" y="3291840"/>
            <a:ext cx="100584" cy="1005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le"/>
          <p:cNvSpPr txBox="1"/>
          <p:nvPr/>
        </p:nvSpPr>
        <p:spPr>
          <a:xfrm>
            <a:off x="68580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tx1"/>
                </a:solidFill>
              </a:rPr>
              <a:t>EMI Calculator</a:t>
            </a:r>
            <a:endParaRPr lang="en-US" sz="5600" dirty="0"/>
          </a:p>
        </p:txBody>
      </p:sp>
      <p:sp>
        <p:nvSpPr>
          <p:cNvPr id="8" name="Subtitle"/>
          <p:cNvSpPr txBox="1"/>
          <p:nvPr/>
        </p:nvSpPr>
        <p:spPr>
          <a:xfrm>
            <a:off x="68580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Plan a loan. Prove every number.</a:t>
            </a:r>
            <a:endParaRPr lang="en-US" sz="2600" dirty="0"/>
          </a:p>
        </p:txBody>
      </p:sp>
      <p:sp>
        <p:nvSpPr>
          <p:cNvPr id="9" name="Description"/>
          <p:cNvSpPr txBox="1"/>
          <p:nvPr/>
        </p:nvSpPr>
        <p:spPr>
          <a:xfrm>
            <a:off x="685800" y="3154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Dashboard, report, compare and eligibility tools, with 194 automated test scenarios behind them.</a:t>
            </a:r>
            <a:endParaRPr lang="en-US" sz="1800" dirty="0"/>
          </a:p>
        </p:txBody>
      </p:sp>
      <p:sp>
        <p:nvSpPr>
          <p:cNvPr id="10" name="Tagline"/>
          <p:cNvSpPr txBox="1"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PLAN   |   COMPARE   |   VERIFY</a:t>
            </a:r>
            <a:endParaRPr lang="en-US" sz="1400" dirty="0"/>
          </a:p>
        </p:txBody>
      </p:sp>
      <p:sp>
        <p:nvSpPr>
          <p:cNvPr id="11" name="Date"/>
          <p:cNvSpPr txBox="1"/>
          <p:nvPr/>
        </p:nvSpPr>
        <p:spPr>
          <a:xfrm>
            <a:off x="932688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User guide  |  15 Oct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User Journey, Screen by Screen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USER JOURNEY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guide in order: eleven app screens first, then six slides on how the app is tested.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map of every screen, so each slide that follows has clear context.</a:t>
            </a:r>
            <a:endParaRPr lang="en-US" sz="1400" dirty="0"/>
          </a:p>
        </p:txBody>
      </p:sp>
      <p:sp>
        <p:nvSpPr>
          <p:cNvPr id="8" name="Contents panel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Column divider"/>
          <p:cNvSpPr/>
          <p:nvPr/>
        </p:nvSpPr>
        <p:spPr>
          <a:xfrm>
            <a:off x="4416552" y="1874520"/>
            <a:ext cx="0" cy="37947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0" name="Item 1 number"/>
          <p:cNvSpPr txBox="1"/>
          <p:nvPr/>
        </p:nvSpPr>
        <p:spPr>
          <a:xfrm>
            <a:off x="868680" y="1874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01</a:t>
            </a:r>
            <a:endParaRPr lang="en-US" sz="1500" dirty="0"/>
          </a:p>
        </p:txBody>
      </p:sp>
      <p:sp>
        <p:nvSpPr>
          <p:cNvPr id="11" name="Item 1 name"/>
          <p:cNvSpPr txBox="1"/>
          <p:nvPr/>
        </p:nvSpPr>
        <p:spPr>
          <a:xfrm>
            <a:off x="1371600" y="18745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2" name="Item 2 number"/>
          <p:cNvSpPr txBox="1"/>
          <p:nvPr/>
        </p:nvSpPr>
        <p:spPr>
          <a:xfrm>
            <a:off x="868680" y="229514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Item 2 name"/>
          <p:cNvSpPr txBox="1"/>
          <p:nvPr/>
        </p:nvSpPr>
        <p:spPr>
          <a:xfrm>
            <a:off x="1371600" y="22951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Loan types &amp; timing</a:t>
            </a:r>
            <a:endParaRPr lang="en-US" sz="1500" dirty="0"/>
          </a:p>
        </p:txBody>
      </p:sp>
      <p:sp>
        <p:nvSpPr>
          <p:cNvPr id="14" name="Item 3 number"/>
          <p:cNvSpPr txBox="1"/>
          <p:nvPr/>
        </p:nvSpPr>
        <p:spPr>
          <a:xfrm>
            <a:off x="868680" y="2715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03</a:t>
            </a:r>
            <a:endParaRPr lang="en-US" sz="1500" dirty="0"/>
          </a:p>
        </p:txBody>
      </p:sp>
      <p:sp>
        <p:nvSpPr>
          <p:cNvPr id="15" name="Item 3 name"/>
          <p:cNvSpPr txBox="1"/>
          <p:nvPr/>
        </p:nvSpPr>
        <p:spPr>
          <a:xfrm>
            <a:off x="1371600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Prepayment</a:t>
            </a:r>
            <a:endParaRPr lang="en-US" sz="1500" dirty="0"/>
          </a:p>
        </p:txBody>
      </p:sp>
      <p:sp>
        <p:nvSpPr>
          <p:cNvPr id="16" name="Item 4 number"/>
          <p:cNvSpPr txBox="1"/>
          <p:nvPr/>
        </p:nvSpPr>
        <p:spPr>
          <a:xfrm>
            <a:off x="868680" y="31363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Item 4 name"/>
          <p:cNvSpPr txBox="1"/>
          <p:nvPr/>
        </p:nvSpPr>
        <p:spPr>
          <a:xfrm>
            <a:off x="1371600" y="31363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Insights &amp; affordability</a:t>
            </a:r>
            <a:endParaRPr lang="en-US" sz="1500" dirty="0"/>
          </a:p>
        </p:txBody>
      </p:sp>
      <p:sp>
        <p:nvSpPr>
          <p:cNvPr id="18" name="Item 5 number"/>
          <p:cNvSpPr txBox="1"/>
          <p:nvPr/>
        </p:nvSpPr>
        <p:spPr>
          <a:xfrm>
            <a:off x="868680" y="35570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05</a:t>
            </a:r>
            <a:endParaRPr lang="en-US" sz="1500" dirty="0"/>
          </a:p>
        </p:txBody>
      </p:sp>
      <p:sp>
        <p:nvSpPr>
          <p:cNvPr id="19" name="Item 5 name"/>
          <p:cNvSpPr txBox="1"/>
          <p:nvPr/>
        </p:nvSpPr>
        <p:spPr>
          <a:xfrm>
            <a:off x="1371600" y="35570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Cumulative chart</a:t>
            </a:r>
            <a:endParaRPr lang="en-US" sz="1500" dirty="0"/>
          </a:p>
        </p:txBody>
      </p:sp>
      <p:sp>
        <p:nvSpPr>
          <p:cNvPr id="20" name="Item 6 number"/>
          <p:cNvSpPr txBox="1"/>
          <p:nvPr/>
        </p:nvSpPr>
        <p:spPr>
          <a:xfrm>
            <a:off x="868680" y="39776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06</a:t>
            </a:r>
            <a:endParaRPr lang="en-US" sz="1500" dirty="0"/>
          </a:p>
        </p:txBody>
      </p:sp>
      <p:sp>
        <p:nvSpPr>
          <p:cNvPr id="21" name="Item 6 name"/>
          <p:cNvSpPr txBox="1"/>
          <p:nvPr/>
        </p:nvSpPr>
        <p:spPr>
          <a:xfrm>
            <a:off x="1371600" y="39776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 &amp; drill-down</a:t>
            </a:r>
            <a:endParaRPr lang="en-US" sz="1500" dirty="0"/>
          </a:p>
        </p:txBody>
      </p:sp>
      <p:sp>
        <p:nvSpPr>
          <p:cNvPr id="22" name="Item 7 number"/>
          <p:cNvSpPr txBox="1"/>
          <p:nvPr/>
        </p:nvSpPr>
        <p:spPr>
          <a:xfrm>
            <a:off x="868680" y="43982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07</a:t>
            </a:r>
            <a:endParaRPr lang="en-US" sz="1500" dirty="0"/>
          </a:p>
        </p:txBody>
      </p:sp>
      <p:sp>
        <p:nvSpPr>
          <p:cNvPr id="23" name="Item 7 name"/>
          <p:cNvSpPr txBox="1"/>
          <p:nvPr/>
        </p:nvSpPr>
        <p:spPr>
          <a:xfrm>
            <a:off x="1371600" y="43982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Financial year &amp; filters</a:t>
            </a:r>
            <a:endParaRPr lang="en-US" sz="1500" dirty="0"/>
          </a:p>
        </p:txBody>
      </p:sp>
      <p:sp>
        <p:nvSpPr>
          <p:cNvPr id="24" name="Item 8 number"/>
          <p:cNvSpPr txBox="1"/>
          <p:nvPr/>
        </p:nvSpPr>
        <p:spPr>
          <a:xfrm>
            <a:off x="868680" y="48188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08</a:t>
            </a:r>
            <a:endParaRPr lang="en-US" sz="1500" dirty="0"/>
          </a:p>
        </p:txBody>
      </p:sp>
      <p:sp>
        <p:nvSpPr>
          <p:cNvPr id="25" name="Item 8 name"/>
          <p:cNvSpPr txBox="1"/>
          <p:nvPr/>
        </p:nvSpPr>
        <p:spPr>
          <a:xfrm>
            <a:off x="1371600" y="481888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loans</a:t>
            </a:r>
            <a:endParaRPr lang="en-US" sz="1500" dirty="0"/>
          </a:p>
        </p:txBody>
      </p:sp>
      <p:sp>
        <p:nvSpPr>
          <p:cNvPr id="26" name="Item 9 number"/>
          <p:cNvSpPr txBox="1"/>
          <p:nvPr/>
        </p:nvSpPr>
        <p:spPr>
          <a:xfrm>
            <a:off x="868680" y="5239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09</a:t>
            </a:r>
            <a:endParaRPr lang="en-US" sz="1500" dirty="0"/>
          </a:p>
        </p:txBody>
      </p:sp>
      <p:sp>
        <p:nvSpPr>
          <p:cNvPr id="27" name="Item 9 name"/>
          <p:cNvSpPr txBox="1"/>
          <p:nvPr/>
        </p:nvSpPr>
        <p:spPr>
          <a:xfrm>
            <a:off x="1371600" y="52395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Eligibility</a:t>
            </a:r>
            <a:endParaRPr lang="en-US" sz="1500" dirty="0"/>
          </a:p>
        </p:txBody>
      </p:sp>
      <p:sp>
        <p:nvSpPr>
          <p:cNvPr id="28" name="Item 10 number"/>
          <p:cNvSpPr txBox="1"/>
          <p:nvPr/>
        </p:nvSpPr>
        <p:spPr>
          <a:xfrm>
            <a:off x="4663440" y="1874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</a:t>
            </a:r>
            <a:endParaRPr lang="en-US" sz="1500" dirty="0"/>
          </a:p>
        </p:txBody>
      </p:sp>
      <p:sp>
        <p:nvSpPr>
          <p:cNvPr id="29" name="Item 10 name"/>
          <p:cNvSpPr txBox="1"/>
          <p:nvPr/>
        </p:nvSpPr>
        <p:spPr>
          <a:xfrm>
            <a:off x="5166360" y="18745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Saved scenarios &amp; sharing</a:t>
            </a:r>
            <a:endParaRPr lang="en-US" sz="1500" dirty="0"/>
          </a:p>
        </p:txBody>
      </p:sp>
      <p:sp>
        <p:nvSpPr>
          <p:cNvPr id="30" name="Item 11 number"/>
          <p:cNvSpPr txBox="1"/>
          <p:nvPr/>
        </p:nvSpPr>
        <p:spPr>
          <a:xfrm>
            <a:off x="4663440" y="229514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</a:t>
            </a:r>
            <a:endParaRPr lang="en-US" sz="1500" dirty="0"/>
          </a:p>
        </p:txBody>
      </p:sp>
      <p:sp>
        <p:nvSpPr>
          <p:cNvPr id="31" name="Item 11 name"/>
          <p:cNvSpPr txBox="1"/>
          <p:nvPr/>
        </p:nvSpPr>
        <p:spPr>
          <a:xfrm>
            <a:off x="5166360" y="22951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Dark mode</a:t>
            </a:r>
            <a:endParaRPr lang="en-US" sz="1500" dirty="0"/>
          </a:p>
        </p:txBody>
      </p:sp>
      <p:sp>
        <p:nvSpPr>
          <p:cNvPr id="32" name="Item 12 number"/>
          <p:cNvSpPr txBox="1"/>
          <p:nvPr/>
        </p:nvSpPr>
        <p:spPr>
          <a:xfrm>
            <a:off x="4663440" y="2715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12</a:t>
            </a:r>
            <a:endParaRPr lang="en-US" sz="1500" dirty="0"/>
          </a:p>
        </p:txBody>
      </p:sp>
      <p:sp>
        <p:nvSpPr>
          <p:cNvPr id="33" name="Item 12 name"/>
          <p:cNvSpPr txBox="1"/>
          <p:nvPr/>
        </p:nvSpPr>
        <p:spPr>
          <a:xfrm>
            <a:off x="5166360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suites</a:t>
            </a:r>
            <a:endParaRPr lang="en-US" sz="1500" dirty="0"/>
          </a:p>
        </p:txBody>
      </p:sp>
      <p:sp>
        <p:nvSpPr>
          <p:cNvPr id="34" name="Item 13 number"/>
          <p:cNvSpPr txBox="1"/>
          <p:nvPr/>
        </p:nvSpPr>
        <p:spPr>
          <a:xfrm>
            <a:off x="4663440" y="31363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13</a:t>
            </a:r>
            <a:endParaRPr lang="en-US" sz="1500" dirty="0"/>
          </a:p>
        </p:txBody>
      </p:sp>
      <p:sp>
        <p:nvSpPr>
          <p:cNvPr id="35" name="Item 13 name"/>
          <p:cNvSpPr txBox="1"/>
          <p:nvPr/>
        </p:nvSpPr>
        <p:spPr>
          <a:xfrm>
            <a:off x="5166360" y="31363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HTML test report</a:t>
            </a:r>
            <a:endParaRPr lang="en-US" sz="1500" dirty="0"/>
          </a:p>
        </p:txBody>
      </p:sp>
      <p:sp>
        <p:nvSpPr>
          <p:cNvPr id="36" name="Item 14 number"/>
          <p:cNvSpPr txBox="1"/>
          <p:nvPr/>
        </p:nvSpPr>
        <p:spPr>
          <a:xfrm>
            <a:off x="4663440" y="35570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14</a:t>
            </a:r>
            <a:endParaRPr lang="en-US" sz="1500" dirty="0"/>
          </a:p>
        </p:txBody>
      </p:sp>
      <p:sp>
        <p:nvSpPr>
          <p:cNvPr id="37" name="Item 14 name"/>
          <p:cNvSpPr txBox="1"/>
          <p:nvPr/>
        </p:nvSpPr>
        <p:spPr>
          <a:xfrm>
            <a:off x="5166360" y="35570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tests</a:t>
            </a:r>
            <a:endParaRPr lang="en-US" sz="1500" dirty="0"/>
          </a:p>
        </p:txBody>
      </p:sp>
      <p:sp>
        <p:nvSpPr>
          <p:cNvPr id="38" name="Item 15 number"/>
          <p:cNvSpPr txBox="1"/>
          <p:nvPr/>
        </p:nvSpPr>
        <p:spPr>
          <a:xfrm>
            <a:off x="4663440" y="39776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15</a:t>
            </a:r>
            <a:endParaRPr lang="en-US" sz="1500" dirty="0"/>
          </a:p>
        </p:txBody>
      </p:sp>
      <p:sp>
        <p:nvSpPr>
          <p:cNvPr id="39" name="Item 15 name"/>
          <p:cNvSpPr txBox="1"/>
          <p:nvPr/>
        </p:nvSpPr>
        <p:spPr>
          <a:xfrm>
            <a:off x="5166360" y="397764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SQL: round-trip transfers</a:t>
            </a:r>
            <a:endParaRPr lang="en-US" sz="1500" dirty="0"/>
          </a:p>
        </p:txBody>
      </p:sp>
      <p:sp>
        <p:nvSpPr>
          <p:cNvPr id="40" name="Item 16 number"/>
          <p:cNvSpPr txBox="1"/>
          <p:nvPr/>
        </p:nvSpPr>
        <p:spPr>
          <a:xfrm>
            <a:off x="4663440" y="43982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16</a:t>
            </a:r>
            <a:endParaRPr lang="en-US" sz="1500" dirty="0"/>
          </a:p>
        </p:txBody>
      </p:sp>
      <p:sp>
        <p:nvSpPr>
          <p:cNvPr id="41" name="Item 16 name"/>
          <p:cNvSpPr txBox="1"/>
          <p:nvPr/>
        </p:nvSpPr>
        <p:spPr>
          <a:xfrm>
            <a:off x="5166360" y="43982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SQL: IPL streaks</a:t>
            </a:r>
            <a:endParaRPr lang="en-US" sz="1500" dirty="0"/>
          </a:p>
        </p:txBody>
      </p:sp>
      <p:sp>
        <p:nvSpPr>
          <p:cNvPr id="42" name="Item 17 number"/>
          <p:cNvSpPr txBox="1"/>
          <p:nvPr/>
        </p:nvSpPr>
        <p:spPr>
          <a:xfrm>
            <a:off x="4663440" y="48188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17</a:t>
            </a:r>
            <a:endParaRPr lang="en-US" sz="1500" dirty="0"/>
          </a:p>
        </p:txBody>
      </p:sp>
      <p:sp>
        <p:nvSpPr>
          <p:cNvPr id="43" name="Item 17 name"/>
          <p:cNvSpPr txBox="1"/>
          <p:nvPr/>
        </p:nvSpPr>
        <p:spPr>
          <a:xfrm>
            <a:off x="5166360" y="481888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self-healing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dashboard turns a loan into numbers you can act on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01 / DASHBOARD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amount, rate and tenure on the left. Results update as you type or drag a slider.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Monthly EMI, total interest and payment, a principal-vs-interest pie, and yearly bars with a balance line.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EMI Calculator dashboard showing the loan form, summary figures, pie chart and yearly ba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Loan types and payment timing change the maths instantly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02 / LOAN TYPES &amp; TIMING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Home, Personal or Car loan for matching defaults and slider ranges. Choose EMI at the start or end of the month.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Start-of-month payments lower the EMI and the total interest, and every figure recalculates.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Car loan tab selected with start-of-month EMI ti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Prepayments show exactly how much time and interest you save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03 / PREPAYMENT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an extra monthly payment, a one-time prepayment, or both, and say after which payment the lump sum is paid.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Prepayment impact box shows interest saved, time saved and when the loan now ends.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Dashboard with the prepayment impact box showing interest and time sa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Insights and affordability put the EMI in context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04 / INSIGHTS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your monthly income to see the EMI as a share of it, rated comfortable, stretching or risky.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Cost of every 100 rupees borrowed and the month principal overtakes interest show the true price of the loan.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Dashboard with loan insights and the affordability ra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cumulative view shows how fast the loan is really repaid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05 / CUMULATIVE CHART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the chart from Yearly bars to Cumulative. Hover a point for the running total.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Two lines, principal and interest paid so far, end at the loan amount and the total interest.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Cumulative chart of principal and interest paid over the loan te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report breaks the loan into years and months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06 / REPORT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Report. Click the arrow beside a year to expand its months, or switch between Yearly and Monthly.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row shows opening balance, EMI, principal, interest and closing balance, with totals at the bottom.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Amortisation report with the year 2030 expanded into its twelve mont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Filters match the schedule to how you account for time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07 / FINANCIAL YEAR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Calendar or Financial year (April to March), pick a single year, then download the rows as CSV or print.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Financial-year totals line up with Indian accounting periods; the CSV holds exactly what is on screen.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Monthly report filtered to one financial year with download and print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Compare two loans side by side and see which costs less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08 / COMPARE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two loans and press Compare loans, or copy the current loan into Loan A.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verdict and a B-minus-A column show the difference in EMI, interest, total payment and tenure.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Compare view with two loans, a verdict and a differenc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Eligibility works backwards from the EMI you can afford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09 / ELIGIBILITY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the monthly EMI you can afford, a rate and a tenure, then press Check eligibility.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largest loan it can service appears with its total cost; one click loads it into the calculator.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Eligibility view showing the maximum loan for a 40,000 monthly E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Save scenarios and share the exact loan with a link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10 / SAVED &amp; SHARE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 a scenario and press Save, or press Copy share link for a URL that restores every field.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Saved loans stay in your browser and reload in one click; shared links open with the same results.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Saved scenarios list and the generated share 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97" y="1783080"/>
            <a:ext cx="1824596" cy="3968496"/>
          </a:xfrm>
          <a:prstGeom prst="rect">
            <a:avLst/>
          </a:prstGeom>
        </p:spPr>
      </p:pic>
      <p:pic>
        <p:nvPicPr>
          <p:cNvPr id="10" name="Screenshot 2" descr="Dashboard after loading the saved Home plan scen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33" y="1783080"/>
            <a:ext cx="5448274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Light or dark, the numbers stay the same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11 / DARK MODE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half-moon button in the header to switch theme. Your choice is remembered.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whole app, charts included, follows the theme, and the layout adapts to narrow screens.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Dashboard in dark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command runs the whole test suite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12 / TEST SUITES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npm test runs every scenario that should pass. Each suite also has its own command, such as npm run test:webapp.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194 scenarios pass. The 8 that fail do so on purpose: documented API gaps and the broken-locator demo.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Terminal output of the test commands with scenario and step cou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49768"/>
            <a:ext cx="7424928" cy="36351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Every run produces a browsable HTML report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13 / TEST REPORT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reports/cucumber/webapp.html in a browser and expand a feature to see each scenario and step.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89 of 89 app scenarios pass, with a screenshot per scenario saved in reports/screenshots.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Cucumber HTML report showing 100 percent of 89 scenarios pas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60" y="1783080"/>
            <a:ext cx="7298383" cy="39684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API tests prove the strict behaviour and expose gaps in JSONPlaceholder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14 / API TESTS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Top: 24 strict scenarios pass against a validating API. Bottom: 7 checks fail by design against the real service.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JSONPlaceholder answers 201 to invalid input and 500 to malformed JSON, so it cannot meet the expected outcome.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Report of the strict API suite: 24 of 24 pas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645" y="1783080"/>
            <a:ext cx="6491815" cy="1352461"/>
          </a:xfrm>
          <a:prstGeom prst="rect">
            <a:avLst/>
          </a:prstGeom>
        </p:spPr>
      </p:pic>
      <p:pic>
        <p:nvPicPr>
          <p:cNvPr id="10" name="Screenshot 2" descr="Report of the known-gap suite: 0 of 7 passed, failing by de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45" y="3226981"/>
            <a:ext cx="6491815" cy="2524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SQL finds round-trip transfers within 10% and 24 hours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15 / SQL: TRANSFERS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self-join pairs each transfer with a return transfer between the same accounts in the following 24 hours.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6 pairs are found, including exactly +10% and 23h59m, while 12% and 24h01m are correctly excluded.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SQL query for round-trip transf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891" y="1783080"/>
            <a:ext cx="4851323" cy="1874375"/>
          </a:xfrm>
          <a:prstGeom prst="rect">
            <a:avLst/>
          </a:prstGeom>
        </p:spPr>
      </p:pic>
      <p:pic>
        <p:nvPicPr>
          <p:cNvPr id="10" name="Screenshot 2" descr="Result table with six round-trip transf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91" y="3748895"/>
            <a:ext cx="4851323" cy="20026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SQL finds players with 30+ runs in three matches in a row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16 / SQL: IPL STREAKS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ROW_NUMBER() columns group consecutive 30+ innings. Groups of three or more are streaks.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 streaks start on the dates shown. A did-not-bat or a 29 breaks a run, and 2023 data is excluded.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SQL query for IPL 2024 scoring strea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5418" y="1783080"/>
            <a:ext cx="4342268" cy="2485695"/>
          </a:xfrm>
          <a:prstGeom prst="rect">
            <a:avLst/>
          </a:prstGeom>
        </p:spPr>
      </p:pic>
      <p:pic>
        <p:nvPicPr>
          <p:cNvPr id="10" name="Screenshot 2" descr="Result table with five scoring strea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418" y="4360215"/>
            <a:ext cx="4342268" cy="13913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self-healing proposes fixes for broken locators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17 / SELF-HEALING</a:t>
            </a:r>
            <a:endParaRPr lang="en-US" sz="1000" dirty="0"/>
          </a:p>
        </p:txBody>
      </p:sp>
      <p:sp>
        <p:nvSpPr>
          <p:cNvPr id="4" name="Label HOW TO USE IT"/>
          <p:cNvSpPr txBox="1"/>
          <p:nvPr/>
        </p:nvSpPr>
        <p:spPr>
          <a:xfrm>
            <a:off x="8988552" y="17830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HOW TO USE IT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988552" y="2103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Five locators are deliberately broken. npm run heal finds candidates and validates each one in a real browser.</a:t>
            </a:r>
            <a:endParaRPr lang="en-US" sz="1400" dirty="0"/>
          </a:p>
        </p:txBody>
      </p:sp>
      <p:sp>
        <p:nvSpPr>
          <p:cNvPr id="6" name="Label WHAT YOU GET"/>
          <p:cNvSpPr txBox="1"/>
          <p:nvPr/>
        </p:nvSpPr>
        <p:spPr>
          <a:xfrm>
            <a:off x="8988552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YOU GET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4" type="body" hasCustomPrompt="1"/>
          </p:nvPr>
        </p:nvSpPr>
        <p:spPr>
          <a:xfrm>
            <a:off x="8988552" y="4160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All five heal to role, label or test-id locators. The fix is reported for review, never applied automatically.</a:t>
            </a:r>
            <a:endParaRPr lang="en-US" sz="1400" dirty="0"/>
          </a:p>
        </p:txBody>
      </p:sp>
      <p:sp>
        <p:nvSpPr>
          <p:cNvPr id="8" name="Screenshot frame"/>
          <p:cNvSpPr/>
          <p:nvPr/>
        </p:nvSpPr>
        <p:spPr>
          <a:xfrm>
            <a:off x="630936" y="1709928"/>
            <a:ext cx="7571232" cy="41148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Screenshot 1" descr="Terminal output showing five broken locators and their validated replac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52346"/>
            <a:ext cx="7424928" cy="36299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6035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Run it yourself in five minutes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988552" y="640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GET STARTED</a:t>
            </a:r>
            <a:endParaRPr lang="en-US" sz="1000" dirty="0"/>
          </a:p>
        </p:txBody>
      </p:sp>
      <p:sp>
        <p:nvSpPr>
          <p:cNvPr id="4" name="Command card"/>
          <p:cNvSpPr/>
          <p:nvPr/>
        </p:nvSpPr>
        <p:spPr>
          <a:xfrm>
            <a:off x="630936" y="1709928"/>
            <a:ext cx="5669280" cy="4114800"/>
          </a:xfrm>
          <a:prstGeom prst="roundRect">
            <a:avLst>
              <a:gd name="adj" fmla="val 1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mmands"/>
          <p:cNvSpPr txBox="1"/>
          <p:nvPr/>
        </p:nvSpPr>
        <p:spPr>
          <a:xfrm>
            <a:off x="914400" y="196596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install chromium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app:start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app at localhost:3300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test:webapp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89 scenarios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test:jsonplaceholder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test:strict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24 scenarios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sql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both queries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heal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self-healing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results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rebuild RESULTS.md</a:t>
            </a:r>
            <a:endParaRPr lang="en-US" sz="1400" dirty="0"/>
          </a:p>
        </p:txBody>
      </p:sp>
      <p:sp>
        <p:nvSpPr>
          <p:cNvPr id="6" name="Where 1 file"/>
          <p:cNvSpPr txBox="1"/>
          <p:nvPr/>
        </p:nvSpPr>
        <p:spPr>
          <a:xfrm>
            <a:off x="6675120" y="1783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README.md</a:t>
            </a:r>
            <a:endParaRPr lang="en-US" sz="1600" dirty="0"/>
          </a:p>
        </p:txBody>
      </p:sp>
      <p:sp>
        <p:nvSpPr>
          <p:cNvPr id="7" name="Where 1 what"/>
          <p:cNvSpPr txBox="1"/>
          <p:nvPr/>
        </p:nvSpPr>
        <p:spPr>
          <a:xfrm>
            <a:off x="667512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setup, how to run, architecture, reflection</a:t>
            </a:r>
            <a:endParaRPr lang="en-US" sz="1400" dirty="0"/>
          </a:p>
        </p:txBody>
      </p:sp>
      <p:sp>
        <p:nvSpPr>
          <p:cNvPr id="8" name="Where 2 file"/>
          <p:cNvSpPr txBox="1"/>
          <p:nvPr/>
        </p:nvSpPr>
        <p:spPr>
          <a:xfrm>
            <a:off x="6675120" y="28072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RESULTS.md</a:t>
            </a:r>
            <a:endParaRPr lang="en-US" sz="1600" dirty="0"/>
          </a:p>
        </p:txBody>
      </p:sp>
      <p:sp>
        <p:nvSpPr>
          <p:cNvPr id="9" name="Where 2 what"/>
          <p:cNvSpPr txBox="1"/>
          <p:nvPr/>
        </p:nvSpPr>
        <p:spPr>
          <a:xfrm>
            <a:off x="6675120" y="3172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result number, plus screenshots</a:t>
            </a:r>
            <a:endParaRPr lang="en-US" sz="1400" dirty="0"/>
          </a:p>
        </p:txBody>
      </p:sp>
      <p:sp>
        <p:nvSpPr>
          <p:cNvPr id="10" name="Where 3 file"/>
          <p:cNvSpPr txBox="1"/>
          <p:nvPr/>
        </p:nvSpPr>
        <p:spPr>
          <a:xfrm>
            <a:off x="6675120" y="38313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docs/REQUIREMENTS_CHECKLIST.md</a:t>
            </a:r>
            <a:endParaRPr lang="en-US" sz="1600" dirty="0"/>
          </a:p>
        </p:txBody>
      </p:sp>
      <p:sp>
        <p:nvSpPr>
          <p:cNvPr id="11" name="Where 3 what"/>
          <p:cNvSpPr txBox="1"/>
          <p:nvPr/>
        </p:nvSpPr>
        <p:spPr>
          <a:xfrm>
            <a:off x="6675120" y="41970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brief, line by line</a:t>
            </a:r>
            <a:endParaRPr lang="en-US" sz="1400" dirty="0"/>
          </a:p>
        </p:txBody>
      </p:sp>
      <p:sp>
        <p:nvSpPr>
          <p:cNvPr id="12" name="Where 4 file"/>
          <p:cNvSpPr txBox="1"/>
          <p:nvPr/>
        </p:nvSpPr>
        <p:spPr>
          <a:xfrm>
            <a:off x="6675120" y="48554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reports/</a:t>
            </a:r>
            <a:endParaRPr lang="en-US" sz="1600" dirty="0"/>
          </a:p>
        </p:txBody>
      </p:sp>
      <p:sp>
        <p:nvSpPr>
          <p:cNvPr id="13" name="Where 4 what"/>
          <p:cNvSpPr txBox="1"/>
          <p:nvPr/>
        </p:nvSpPr>
        <p:spPr>
          <a:xfrm>
            <a:off x="6675120" y="5221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 reports, screenshots, SQL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182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I Guide">
  <a:themeElements>
    <a:clrScheme name="EMI Guide">
      <a:dk1>
        <a:srgbClr val="1B2433"/>
      </a:dk1>
      <a:lt1>
        <a:srgbClr val="FFFFFF"/>
      </a:lt1>
      <a:dk2>
        <a:srgbClr val="0B1F4A"/>
      </a:dk2>
      <a:lt2>
        <a:srgbClr val="F3F6FB"/>
      </a:lt2>
      <a:accent1>
        <a:srgbClr val="1F6FEB"/>
      </a:accent1>
      <a:accent2>
        <a:srgbClr val="F59E0B"/>
      </a:accent2>
      <a:accent3>
        <a:srgbClr val="14B8A6"/>
      </a:accent3>
      <a:accent4>
        <a:srgbClr val="6D28D9"/>
      </a:accent4>
      <a:accent5>
        <a:srgbClr val="5B6470"/>
      </a:accent5>
      <a:accent6>
        <a:srgbClr val="DBE7FF"/>
      </a:accent6>
      <a:hlink>
        <a:srgbClr val="1F6FEB"/>
      </a:hlink>
      <a:folHlink>
        <a:srgbClr val="6D28D9"/>
      </a:folHlink>
    </a:clrScheme>
    <a:fontScheme name="EMI Gui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 Calculator - User Guide</dc:title>
  <dc:subject>PptxGenJS Presentation</dc:subject>
  <dc:creator>EMI Calculator project</dc:creator>
  <cp:lastModifiedBy>EMI Calculator project</cp:lastModifiedBy>
  <cp:revision>1</cp:revision>
  <dcterms:created xsi:type="dcterms:W3CDTF">2026-10-15T08:15:32Z</dcterms:created>
  <dcterms:modified xsi:type="dcterms:W3CDTF">2026-10-15T08:15:32Z</dcterms:modified>
</cp:coreProperties>
</file>